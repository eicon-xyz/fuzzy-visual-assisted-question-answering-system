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HAJIMI 自动操作助手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FFC000"/>
                </a:solidFill>
                <a:latin typeface="微软雅黑"/>
              </a:rPr>
              <a:t>看得懂屏幕 · 听得懂指令 · 帮你动手做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6DFE8"/>
                </a:solidFill>
                <a:latin typeface="微软雅黑"/>
              </a:rPr>
              <a:t>毕业设计 · 项目验收答辩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第 32 组   潘振喆 / 杨名 / 涂浚稷      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31089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C000"/>
                </a:solidFill>
                <a:latin typeface="微软雅黑"/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868680"/>
            <a:ext cx="640080" cy="6400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86868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868680"/>
            <a:ext cx="6035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微软雅黑"/>
              </a:rPr>
              <a:t>项目背景与意义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01368"/>
            <a:ext cx="640080" cy="6400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01368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01368"/>
            <a:ext cx="6035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微软雅黑"/>
              </a:rPr>
              <a:t>系统介绍与核心能力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734056"/>
            <a:ext cx="640080" cy="6400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34056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34056"/>
            <a:ext cx="6035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微软雅黑"/>
              </a:rPr>
              <a:t>功能演示 · 桌面端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66744"/>
            <a:ext cx="640080" cy="6400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666744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666744"/>
            <a:ext cx="6035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微软雅黑"/>
              </a:rPr>
              <a:t>管理与运营数据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599431"/>
            <a:ext cx="640080" cy="6400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599431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599431"/>
            <a:ext cx="6035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微软雅黑"/>
              </a:rPr>
              <a:t>项目成果与亮点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5532119"/>
            <a:ext cx="640080" cy="64008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5532119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5532119"/>
            <a:ext cx="603504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2B2B"/>
                </a:solidFill>
                <a:latin typeface="微软雅黑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C000"/>
                </a:solidFill>
                <a:latin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14800"/>
            <a:ext cx="292608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6DFE8"/>
                </a:solidFill>
                <a:latin typeface="微软雅黑"/>
              </a:rPr>
              <a:t>PART 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项目背景与意义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用户面临的困境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94376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21945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操作门槛高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837176" cy="1417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面对复杂的软件界面，用户常常“知道要做什么，却找不到在哪里点”，层层菜单让简单任务也变得困难。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54480"/>
            <a:ext cx="5294376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554480"/>
            <a:ext cx="109728" cy="21945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求助方式低效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12848"/>
            <a:ext cx="4837176" cy="1417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查教程、按 F1、在多个窗口间来回切换，费时又易错，网上的教程还常和自己的界面对不上。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谁最需要它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07080"/>
                </a:solidFill>
                <a:latin typeface="微软雅黑"/>
              </a:rPr>
              <a:t>HAJIMI 面向几类典型用户，帮助他们轻松跨过操作门槛。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5798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新手用户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8716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不熟悉软件，容易在复杂菜单里迷路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2666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老年用户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5584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看不清、找不到，需要更直观的引导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9534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9476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视障用户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2452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读屏工具覆盖有限，操作起来很吃力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6402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66344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忙碌用户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9320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只想一句话交代，剩下的交给系统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我们想做什么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5506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5448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说一句话就行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8424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让用户用最自然的方式表达目标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2374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系统自己看懂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5292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自动识别屏幕、想好操作步骤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29184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在界面上帮忙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2160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直接演示或代替用户完成操作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6110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始终安全可控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9028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全程有风险评分与红线护栏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C000"/>
                </a:solidFill>
                <a:latin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14800"/>
            <a:ext cx="292608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6DFE8"/>
                </a:solidFill>
                <a:latin typeface="微软雅黑"/>
              </a:rPr>
              <a:t>PART 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系统介绍与核心能力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三步走 · 六件事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2904" cy="16002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1600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96570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① 屏幕感知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965704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认出界面上有哪些可点、可输入的元素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024" y="1554480"/>
            <a:ext cx="3422904" cy="16002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024" y="1554480"/>
            <a:ext cx="109728" cy="1600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7344" y="1719072"/>
            <a:ext cx="296570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② 意图理解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344" y="2212848"/>
            <a:ext cx="2965704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听懂你的自然语言，明确真实目标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1554480"/>
            <a:ext cx="3422904" cy="16002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1554480"/>
            <a:ext cx="109728" cy="1600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0288" y="1719072"/>
            <a:ext cx="296570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③ 步骤规划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2212848"/>
            <a:ext cx="2965704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自动生成一步步的操作方案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422904" cy="16002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109728" cy="1600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39312"/>
            <a:ext cx="296570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④ 可视标注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7"/>
            <a:ext cx="2965704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在界面上画箭头、高亮与编号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3024" y="3474720"/>
            <a:ext cx="3422904" cy="16002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3024" y="3474720"/>
            <a:ext cx="109728" cy="1600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7344" y="3639312"/>
            <a:ext cx="296570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⑤ 自动执行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344" y="4133087"/>
            <a:ext cx="2965704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代你点击、输入、双击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5968" y="3474720"/>
            <a:ext cx="3422904" cy="16002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5968" y="3474720"/>
            <a:ext cx="109728" cy="1600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0288" y="3639312"/>
            <a:ext cx="296570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⑥ 安全护栏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4133087"/>
            <a:ext cx="2965704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风险评分与红线拦截双重把关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两种使用方式，都很自然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94376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21945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语音说 / 打字问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837176" cy="1417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既可以语音说出目标，也可以直接打字，系统都会先弄清你要做什么。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54480"/>
            <a:ext cx="5294376" cy="219456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554480"/>
            <a:ext cx="109728" cy="21945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看标注 / 帮你做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12848"/>
            <a:ext cx="4837176" cy="14173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简单任务在界面上标注“点这里”；复杂任务一步步代你完成，随时可暂停、可停止。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C000"/>
                </a:solidFill>
                <a:latin typeface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14800"/>
            <a:ext cx="292608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6DFE8"/>
                </a:solidFill>
                <a:latin typeface="微软雅黑"/>
              </a:rPr>
              <a:t>PART 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功能演示 · 桌面端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桌面助手：贴身又不打扰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常驻悬浮面板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停靠桌面角落，随时输入指令、查看每一步进度。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5448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55448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紧凑浮动条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1284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收起后只剩一条小窗，完全不遮挡工作区。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67911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多套界面主题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6168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默认蓝、典雅黑、牛皮纸、黑金轻奢与适老主题。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70332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370332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3867911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屏幕标注覆盖层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36168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把“下一步点这里”用箭头和高亮画在界面上。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五套界面主题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默认蓝主页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2025"/>
            <a:ext cx="1998878" cy="3651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199887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默认蓝</a:t>
            </a:r>
          </a:p>
        </p:txBody>
      </p:sp>
      <p:pic>
        <p:nvPicPr>
          <p:cNvPr id="8" name="Picture 7" descr="典雅黑主页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118" y="1803691"/>
            <a:ext cx="1998878" cy="3707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76118" y="5943600"/>
            <a:ext cx="199887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典雅黑</a:t>
            </a:r>
          </a:p>
        </p:txBody>
      </p:sp>
      <p:pic>
        <p:nvPicPr>
          <p:cNvPr id="10" name="Picture 9" descr="牛皮纸主页面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036" y="1860628"/>
            <a:ext cx="1998878" cy="35939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95036" y="5943600"/>
            <a:ext cx="199887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牛皮纸</a:t>
            </a:r>
          </a:p>
        </p:txBody>
      </p:sp>
      <p:pic>
        <p:nvPicPr>
          <p:cNvPr id="12" name="Picture 11" descr="黑金轻奢主页面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5" y="1833496"/>
            <a:ext cx="1998878" cy="36482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13955" y="5943600"/>
            <a:ext cx="199887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黑金轻奢</a:t>
            </a:r>
          </a:p>
        </p:txBody>
      </p:sp>
      <p:pic>
        <p:nvPicPr>
          <p:cNvPr id="14" name="Picture 13" descr="耄耋主页面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3" y="1825575"/>
            <a:ext cx="1998878" cy="366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32873" y="5943600"/>
            <a:ext cx="199887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耄耋（适老）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系统设置 · 灵活可配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系统设置-主题默认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609059"/>
            <a:ext cx="3544824" cy="2097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35448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主题外观</a:t>
            </a:r>
          </a:p>
        </p:txBody>
      </p:sp>
      <p:pic>
        <p:nvPicPr>
          <p:cNvPr id="8" name="Picture 7" descr="系统设置-语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064" y="2149259"/>
            <a:ext cx="3544824" cy="301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2064" y="5943600"/>
            <a:ext cx="35448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语音交互</a:t>
            </a:r>
          </a:p>
        </p:txBody>
      </p:sp>
      <p:pic>
        <p:nvPicPr>
          <p:cNvPr id="10" name="Picture 9" descr="系统设置-部署模式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928" y="1972642"/>
            <a:ext cx="3544824" cy="3369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6928" y="5943600"/>
            <a:ext cx="35448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部署模式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自动执行与安全护栏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4检测确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86448"/>
            <a:ext cx="3544824" cy="2342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35448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执行前检测确认</a:t>
            </a:r>
          </a:p>
        </p:txBody>
      </p:sp>
      <p:pic>
        <p:nvPicPr>
          <p:cNvPr id="8" name="Picture 7" descr="L5演示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064" y="2562819"/>
            <a:ext cx="3544824" cy="2189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2064" y="5943600"/>
            <a:ext cx="35448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全屏标注 · 自动演示</a:t>
            </a:r>
          </a:p>
        </p:txBody>
      </p:sp>
      <p:pic>
        <p:nvPicPr>
          <p:cNvPr id="10" name="Picture 9" descr="L5警示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928" y="2946271"/>
            <a:ext cx="3544824" cy="1422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6928" y="5943600"/>
            <a:ext cx="35448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高风险安全警示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C000"/>
                </a:solidFill>
                <a:latin typeface="微软雅黑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14800"/>
            <a:ext cx="292608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6DFE8"/>
                </a:solidFill>
                <a:latin typeface="微软雅黑"/>
              </a:rPr>
              <a:t>PART 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管理与运营数据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Web 管理面板：一屏掌握全局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5506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5448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总览仪表盘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8424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任务量、成功率、趋势一目了然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04872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0428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失败归因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34056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下钻到每个任务，还原当时快照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54679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054096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数据流监控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83863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链路流向与调用量清晰可见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04487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803904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系统配置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33672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参数在线热部署，改完即生效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54296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553712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用户管理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8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用户、角色与使用情况集中维护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40410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30352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517C"/>
                </a:solidFill>
                <a:latin typeface="微软雅黑"/>
              </a:rPr>
              <a:t>健康监控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73328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组件状态与告警实时掌握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登录与运营总览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登录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登录</a:t>
            </a:r>
          </a:p>
        </p:txBody>
      </p:sp>
      <p:pic>
        <p:nvPicPr>
          <p:cNvPr id="8" name="Picture 7" descr="web端总览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总览仪表盘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失败归因：从列表到详情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失败归因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失败列表与图表</a:t>
            </a:r>
          </a:p>
        </p:txBody>
      </p:sp>
      <p:pic>
        <p:nvPicPr>
          <p:cNvPr id="8" name="Picture 7" descr="web端失败归因页详情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详情抽屉（含 LLM 快照）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数据流与用户管理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数据流监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数据流监控</a:t>
            </a:r>
          </a:p>
        </p:txBody>
      </p:sp>
      <p:pic>
        <p:nvPicPr>
          <p:cNvPr id="8" name="Picture 7" descr="web端用户管理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用户管理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系统配置与健康监控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端系统配置页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17121"/>
            <a:ext cx="5477256" cy="3080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系统配置</a:t>
            </a:r>
          </a:p>
        </p:txBody>
      </p:sp>
      <p:pic>
        <p:nvPicPr>
          <p:cNvPr id="8" name="Picture 7" descr="web端健康监控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17121"/>
            <a:ext cx="5477256" cy="3080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5943600"/>
            <a:ext cx="547725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607080"/>
                </a:solidFill>
                <a:latin typeface="微软雅黑"/>
              </a:rPr>
              <a:t>健康监控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C000"/>
                </a:solidFill>
                <a:latin typeface="微软雅黑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14800"/>
            <a:ext cx="292608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6DFE8"/>
                </a:solidFill>
                <a:latin typeface="微软雅黑"/>
              </a:rPr>
              <a:t>PART  FIVE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项目成果与亮点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五大亮点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5506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5448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看得懂屏幕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8424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多模态视觉理解真实界面，不依赖固定坐标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7802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7744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帮得上忙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0720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从“指路”升级到“代做”，真正动手完成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0098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20040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用得放心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016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风险评分 + 红线拦截双重护栏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2394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02336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随手可用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5312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常驻悬浮，语音与文字皆可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46904"/>
            <a:ext cx="201168" cy="20116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846320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0517C"/>
                </a:solidFill>
                <a:latin typeface="微软雅黑"/>
              </a:rPr>
              <a:t>可管可控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76088"/>
            <a:ext cx="10104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7080"/>
                </a:solidFill>
                <a:latin typeface="微软雅黑"/>
              </a:rPr>
              <a:t>Web 面板全程可视化运营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三端联通 · 质量有保障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桌面客户端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悬浮面板、标注覆盖、自动执行与多主题均已完成。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55448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155448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19072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服务端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1284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任务规划、安全校验、审计与配置，31 个接口稳定运行。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67911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管理面板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6168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六大页面全部打通，数据端到端可追溯。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703320"/>
            <a:ext cx="5294376" cy="18288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3703320"/>
            <a:ext cx="109728" cy="18288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3867911"/>
            <a:ext cx="4837176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质量保障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361688"/>
            <a:ext cx="4837176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237 项测试全部通过，覆盖正常与异常场景。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C000"/>
                </a:solidFill>
                <a:latin typeface="微软雅黑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114800"/>
            <a:ext cx="292608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D6DFE8"/>
                </a:solidFill>
                <a:latin typeface="微软雅黑"/>
              </a:rPr>
              <a:t>PART  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743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C000"/>
                </a:solidFill>
                <a:latin typeface="微软雅黑"/>
              </a:rP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41832"/>
            <a:ext cx="2377440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08792" cy="13716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45159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一句话总结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451592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HAJIMI 让普通用户用最自然的方式——说一句话——就能完成原本繁琐的桌面操作，且始终在安全边界内工作。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10908792" cy="13716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109728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2"/>
            <a:ext cx="1045159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更聪明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4487"/>
            <a:ext cx="10451592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持续打磨语音全链路与复杂任务的规划准确率。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10908792" cy="137160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109728" cy="13716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02352"/>
            <a:ext cx="10451592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20517C"/>
                </a:solidFill>
                <a:latin typeface="微软雅黑"/>
              </a:rPr>
              <a:t>更普适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451592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2B2B2B"/>
                </a:solidFill>
                <a:latin typeface="微软雅黑"/>
              </a:rPr>
              <a:t>适配多屏与高分辨率，覆盖更多软件与场景。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5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3246120"/>
            <a:ext cx="3044952" cy="5486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微软雅黑"/>
              </a:rPr>
              <a:t>感谢聆听 · 敬请指正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FFC000"/>
                </a:solidFill>
                <a:latin typeface="微软雅黑"/>
              </a:rPr>
              <a:t>HAJIMI 自动操作助手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D6DFE8"/>
                </a:solidFill>
                <a:latin typeface="微软雅黑"/>
              </a:rPr>
              <a:t>第 32 组   潘振喆 / 杨名 / 涂浚稷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