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004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a:eaTypeface="Microsoft YaHei">
                <a:solidFill>
                  <a:srgbClr val="FFFFFF"/>
                </a:solidFill>
                <a:latin typeface="Arial"/>
              </a:rPr>
              <a:t>HAJIMI  自动操作助手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20624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a:eaTypeface="Microsoft YaHei">
                <a:solidFill>
                  <a:srgbClr val="9999AA"/>
                </a:solidFill>
                <a:latin typeface="Arial"/>
              </a:rPr>
              <a:t>从桌面指引到智能自动执行  |  32 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12064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 a:eaTypeface="Microsoft YaHei">
                <a:solidFill>
                  <a:srgbClr val="9999AA"/>
                </a:solidFill>
                <a:latin typeface="Arial"/>
              </a:rPr>
              <a:t>重庆大学赋能实训项目  ·  终期验收答辩  ·  2026年7月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 b="0" a:eaTypeface="Microsoft YaHei">
                <a:solidFill>
                  <a:srgbClr val="9999AA"/>
                </a:solidFill>
                <a:latin typeface="Arial"/>
              </a:rPr>
              <a:t>A 后端/AI核心   B 前端/桌面应用   C 集成/语音/管理端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2286000"/>
            <a:ext cx="4572000" cy="6858000"/>
          </a:xfrm>
          <a:prstGeom prst="rect">
            <a:avLst/>
          </a:prstGeom>
          <a:solidFill>
            <a:srgbClr val="1C2840"/>
          </a:solidFill>
          <a:ln w="12700">
            <a:solidFill>
              <a:srgbClr val="3A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a:eaTypeface="Microsoft YaHei">
                <a:solidFill>
                  <a:srgbClr val="9999AA"/>
                </a:solidFill>
                <a:latin typeface="Arial"/>
              </a:rPr>
              <a:t>IMG-P01</a:t>
            </a:r>
          </a:p>
          <a:p>
            <a:pPr algn="ctr"/>
            <a:r>
              <a:rPr sz="1100" b="0" a:eaTypeface="Microsoft YaHei">
                <a:solidFill>
                  <a:srgbClr val="9999AA"/>
                </a:solidFill>
                <a:latin typeface="Arial"/>
              </a:rPr>
              <a:t>HAJIMI 悬浮面板 + 屏幕标注</a:t>
            </a:r>
          </a:p>
          <a:p>
            <a:pPr algn="ctr"/>
            <a:r>
              <a:rPr sz="1100" b="0" a:eaTypeface="Microsoft YaHei">
                <a:solidFill>
                  <a:srgbClr val="9999AA"/>
                </a:solidFill>
                <a:latin typeface="Arial"/>
              </a:rPr>
              <a:t>代表性运行截图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a:eaTypeface="Microsoft YaHei">
                <a:solidFill>
                  <a:srgbClr val="FFFFFF"/>
                </a:solidFill>
                <a:latin typeface="Arial"/>
              </a:rPr>
              <a:t>项目背景与痛点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a:eaTypeface="Microsoft YaHei">
                <a:solidFill>
                  <a:srgbClr val="9999AA"/>
                </a:solidFill>
                <a:latin typeface="Arial"/>
              </a:rPr>
              <a:t>传统桌面操作面临的核心问题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6858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800" b="1" a:eaTypeface="Microsoft YaHei">
                <a:solidFill>
                  <a:srgbClr val="00C853"/>
                </a:solidFill>
                <a:latin typeface="Arial"/>
              </a:rPr>
              <a:t>功能繁杂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 a:eaTypeface="Microsoft YaHei">
                <a:solidFill>
                  <a:srgbClr val="FFFFFF"/>
                </a:solidFill>
                <a:latin typeface="Arial"/>
              </a:rPr>
              <a:t>    电脑界面复杂，新手用户常因术语陌生、图标含义不明而卡在基础操作上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600" b="0" a:eaTypeface="Microsoft YaHei">
                <a:solidFill>
                  <a:srgbClr val="FFFFFF"/>
                </a:solidFill>
                <a:latin typeface="Arial"/>
              </a:rPr>
              <a:t> 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800" b="1" a:eaTypeface="Microsoft YaHei">
                <a:solidFill>
                  <a:srgbClr val="00C853"/>
                </a:solidFill>
                <a:latin typeface="Arial"/>
              </a:rPr>
              <a:t>静态帮助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 a:eaTypeface="Microsoft YaHei">
                <a:solidFill>
                  <a:srgbClr val="FFFFFF"/>
                </a:solidFill>
                <a:latin typeface="Arial"/>
              </a:rPr>
              <a:t>    F1帮助、在线教程脱离当前屏幕上下文，需在窗口间反复切换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600" b="0" a:eaTypeface="Microsoft YaHei">
                <a:solidFill>
                  <a:srgbClr val="FFFFFF"/>
                </a:solidFill>
                <a:latin typeface="Arial"/>
              </a:rPr>
              <a:t> 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800" b="1" a:eaTypeface="Microsoft YaHei">
                <a:solidFill>
                  <a:srgbClr val="00C853"/>
                </a:solidFill>
                <a:latin typeface="Arial"/>
              </a:rPr>
              <a:t>无障碍缺失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 a:eaTypeface="Microsoft YaHei">
                <a:solidFill>
                  <a:srgbClr val="FFFFFF"/>
                </a:solidFill>
                <a:latin typeface="Arial"/>
              </a:rPr>
              <a:t>    屏幕朗读器仅提取文字，无法理解图形界面的布局和操作路径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600" b="0" a:eaTypeface="Microsoft YaHei">
                <a:solidFill>
                  <a:srgbClr val="FFFFFF"/>
                </a:solidFill>
                <a:latin typeface="Arial"/>
              </a:rPr>
              <a:t> 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800" b="1" a:eaTypeface="Microsoft YaHei">
                <a:solidFill>
                  <a:srgbClr val="00C853"/>
                </a:solidFill>
                <a:latin typeface="Arial"/>
              </a:rPr>
              <a:t>无反馈闭环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 a:eaTypeface="Microsoft YaHei">
                <a:solidFill>
                  <a:srgbClr val="FFFFFF"/>
                </a:solidFill>
                <a:latin typeface="Arial"/>
              </a:rPr>
              <a:t>    操作偏差导致任务失败后，用户不知道如何回退或纠正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1828800"/>
            <a:ext cx="4114800" cy="5943600"/>
          </a:xfrm>
          <a:prstGeom prst="rect">
            <a:avLst/>
          </a:prstGeom>
          <a:solidFill>
            <a:srgbClr val="1C2840"/>
          </a:solidFill>
          <a:ln w="12700">
            <a:solidFill>
              <a:srgbClr val="3A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a:eaTypeface="Microsoft YaHei">
                <a:solidFill>
                  <a:srgbClr val="9999AA"/>
                </a:solidFill>
                <a:latin typeface="Arial"/>
              </a:rPr>
              <a:t>IMG-P02</a:t>
            </a:r>
          </a:p>
          <a:p>
            <a:pPr algn="ctr"/>
            <a:r>
              <a:rPr sz="1100" b="0" a:eaTypeface="Microsoft YaHei">
                <a:solidFill>
                  <a:srgbClr val="9999AA"/>
                </a:solidFill>
                <a:latin typeface="Arial"/>
              </a:rPr>
              <a:t>传统操作痛点 vs HAJIMI</a:t>
            </a:r>
          </a:p>
          <a:p>
            <a:pPr algn="ctr"/>
            <a:r>
              <a:rPr sz="1100" b="0" a:eaTypeface="Microsoft YaHei">
                <a:solidFill>
                  <a:srgbClr val="9999AA"/>
                </a:solidFill>
                <a:latin typeface="Arial"/>
              </a:rPr>
              <a:t>一步到位对比示意图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a:eaTypeface="Microsoft YaHei">
                <a:solidFill>
                  <a:srgbClr val="FFFFFF"/>
                </a:solidFill>
                <a:latin typeface="Arial"/>
              </a:rPr>
              <a:t>系统定位与核心能力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a:eaTypeface="Microsoft YaHei">
                <a:solidFill>
                  <a:srgbClr val="9999AA"/>
                </a:solidFill>
                <a:latin typeface="Arial"/>
              </a:rPr>
              <a:t>V1.x 桌面指引  →  V2.2 自动操作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7724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600" b="1" a:eaTypeface="Microsoft YaHei">
                <a:solidFill>
                  <a:srgbClr val="00C853"/>
                </a:solidFill>
                <a:latin typeface="Arial"/>
              </a:rPr>
              <a:t>屏幕感知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 b="0" a:eaTypeface="Microsoft YaHei">
                <a:solidFill>
                  <a:srgbClr val="FFFFFF"/>
                </a:solidFill>
                <a:latin typeface="Arial"/>
              </a:rPr>
              <a:t>    OmniParser (A800 GPU) — YOLO 图标检测 + Florence-2 元素描述 + PaddleOCR 文字识别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800" b="0" a:eaTypeface="Microsoft YaHei">
                <a:solidFill>
                  <a:srgbClr val="FFFFFF"/>
                </a:solidFill>
                <a:latin typeface="Arial"/>
              </a:rPr>
              <a:t> 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600" b="1" a:eaTypeface="Microsoft YaHei">
                <a:solidFill>
                  <a:srgbClr val="00C853"/>
                </a:solidFill>
                <a:latin typeface="Arial"/>
              </a:rPr>
              <a:t>意图理解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 b="0" a:eaTypeface="Microsoft YaHei">
                <a:solidFill>
                  <a:srgbClr val="FFFFFF"/>
                </a:solidFill>
                <a:latin typeface="Arial"/>
              </a:rPr>
              <a:t>    9 大意图域分类 × 5 种指代消解 × 8 供应商多模态 LLM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800" b="0" a:eaTypeface="Microsoft YaHei">
                <a:solidFill>
                  <a:srgbClr val="FFFFFF"/>
                </a:solidFill>
                <a:latin typeface="Arial"/>
              </a:rPr>
              <a:t> 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600" b="1" a:eaTypeface="Microsoft YaHei">
                <a:solidFill>
                  <a:srgbClr val="00C853"/>
                </a:solidFill>
                <a:latin typeface="Arial"/>
              </a:rPr>
              <a:t>自动执行 (V2.2 新增)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 b="0" a:eaTypeface="Microsoft YaHei">
                <a:solidFill>
                  <a:srgbClr val="FFFFFF"/>
                </a:solidFill>
                <a:latin typeface="Arial"/>
              </a:rPr>
              <a:t>    6 种操作动作 (click / type / dblclick / hotkey / drag / scroll)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800" b="0" a:eaTypeface="Microsoft YaHei">
                <a:solidFill>
                  <a:srgbClr val="FFFFFF"/>
                </a:solidFill>
                <a:latin typeface="Arial"/>
              </a:rPr>
              <a:t> 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600" b="1" a:eaTypeface="Microsoft YaHei">
                <a:solidFill>
                  <a:srgbClr val="00C853"/>
                </a:solidFill>
                <a:latin typeface="Arial"/>
              </a:rPr>
              <a:t>安全保障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 b="0" a:eaTypeface="Microsoft YaHei">
                <a:solidFill>
                  <a:srgbClr val="FFFFFF"/>
                </a:solidFill>
                <a:latin typeface="Arial"/>
              </a:rPr>
              <a:t>    风险评分 1-5 级 + 红线关键词拦截 + 用户信任级别三重审核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800" b="0" a:eaTypeface="Microsoft YaHei">
                <a:solidFill>
                  <a:srgbClr val="FFFFFF"/>
                </a:solidFill>
                <a:latin typeface="Arial"/>
              </a:rPr>
              <a:t> 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600" b="1" a:eaTypeface="Microsoft YaHei">
                <a:solidFill>
                  <a:srgbClr val="00C853"/>
                </a:solidFill>
                <a:latin typeface="Arial"/>
              </a:rPr>
              <a:t>管理面板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 b="0" a:eaTypeface="Microsoft YaHei">
                <a:solidFill>
                  <a:srgbClr val="FFFFFF"/>
                </a:solidFill>
                <a:latin typeface="Arial"/>
              </a:rPr>
              <a:t>    Web 端 6 页实时监控 + 配置热部署 + 失败归因分析 + 语音交互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0" y="1828800"/>
            <a:ext cx="3474720" cy="3474720"/>
          </a:xfrm>
          <a:prstGeom prst="rect">
            <a:avLst/>
          </a:prstGeom>
          <a:solidFill>
            <a:srgbClr val="1C2840"/>
          </a:solidFill>
          <a:ln w="12700">
            <a:solidFill>
              <a:srgbClr val="3A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a:eaTypeface="Microsoft YaHei">
                <a:solidFill>
                  <a:srgbClr val="9999AA"/>
                </a:solidFill>
                <a:latin typeface="Arial"/>
              </a:rPr>
              <a:t>IMG-P03</a:t>
            </a:r>
          </a:p>
          <a:p>
            <a:pPr algn="ctr"/>
            <a:r>
              <a:rPr sz="1100" b="0" a:eaTypeface="Microsoft YaHei">
                <a:solidFill>
                  <a:srgbClr val="9999AA"/>
                </a:solidFill>
                <a:latin typeface="Arial"/>
              </a:rPr>
              <a:t>屏幕感知 → 意图理解 → 自动执行</a:t>
            </a:r>
          </a:p>
          <a:p>
            <a:pPr algn="ctr"/>
            <a:r>
              <a:rPr sz="1100" b="0" a:eaTypeface="Microsoft YaHei">
                <a:solidFill>
                  <a:srgbClr val="9999AA"/>
                </a:solidFill>
                <a:latin typeface="Arial"/>
              </a:rPr>
              <a:t>三环节能力示意图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a:eaTypeface="Microsoft YaHei">
                <a:solidFill>
                  <a:srgbClr val="FFFFFF"/>
                </a:solidFill>
                <a:latin typeface="Arial"/>
              </a:rPr>
              <a:t>技术架构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a:eaTypeface="Microsoft YaHei">
                <a:solidFill>
                  <a:srgbClr val="9999AA"/>
                </a:solidFill>
                <a:latin typeface="Arial"/>
              </a:rPr>
              <a:t>三层 C-S 架构：客户端 → 服务端 :8010 → AI 服务 :9800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6858000" cy="5029200"/>
          </a:xfrm>
          <a:prstGeom prst="rect">
            <a:avLst/>
          </a:prstGeom>
          <a:solidFill>
            <a:srgbClr val="1C2840"/>
          </a:solidFill>
          <a:ln w="12700">
            <a:solidFill>
              <a:srgbClr val="3A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a:eaTypeface="Microsoft YaHei">
                <a:solidFill>
                  <a:srgbClr val="9999AA"/>
                </a:solidFill>
                <a:latin typeface="Arial"/>
              </a:rPr>
              <a:t>IMG-P04</a:t>
            </a:r>
          </a:p>
          <a:p>
            <a:pPr algn="ctr"/>
            <a:r>
              <a:rPr sz="1100" b="0" a:eaTypeface="Microsoft YaHei">
                <a:solidFill>
                  <a:srgbClr val="9999AA"/>
                </a:solidFill>
                <a:latin typeface="Arial"/>
              </a:rPr>
              <a:t>UML_diagrams.md — 图5</a:t>
            </a:r>
          </a:p>
          <a:p>
            <a:pPr algn="ctr"/>
            <a:r>
              <a:rPr sz="1100" b="0" a:eaTypeface="Microsoft YaHei">
                <a:solidFill>
                  <a:srgbClr val="9999AA"/>
                </a:solidFill>
                <a:latin typeface="Arial"/>
              </a:rPr>
              <a:t>系统四层逻辑架构图</a:t>
            </a:r>
          </a:p>
          <a:p>
            <a:pPr algn="ctr"/>
            <a:r>
              <a:rPr sz="1100" b="0" a:eaTypeface="Microsoft YaHei">
                <a:solidFill>
                  <a:srgbClr val="9999AA"/>
                </a:solidFill>
                <a:latin typeface="Arial"/>
              </a:rPr>
              <a:t>(Mermaid graph TB 渲染)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28600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 a:eaTypeface="Microsoft YaHei">
                <a:solidFill>
                  <a:srgbClr val="00C853"/>
                </a:solidFill>
                <a:latin typeface="Arial"/>
              </a:rPr>
              <a:t>客户端层 (B + C)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100" b="0" a:eaTypeface="Microsoft YaHei">
                <a:solidFill>
                  <a:srgbClr val="FFFFFF"/>
                </a:solidFill>
                <a:latin typeface="Arial"/>
              </a:rPr>
              <a:t>B端 PyQt5: 截图+面板+覆盖层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100" b="0" a:eaTypeface="Microsoft YaHei">
                <a:solidFill>
                  <a:srgbClr val="FFFFFF"/>
                </a:solidFill>
                <a:latin typeface="Arial"/>
              </a:rPr>
              <a:t>B端 pyautogui: 6种自动操作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100" b="0" a:eaTypeface="Microsoft YaHei">
                <a:solidFill>
                  <a:srgbClr val="FFFFFF"/>
                </a:solidFill>
                <a:latin typeface="Arial"/>
              </a:rPr>
              <a:t>C端 语音/审计/配置/Web面板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800" b="0" a:eaTypeface="Microsoft YaHei">
                <a:solidFill>
                  <a:srgbClr val="FFFFFF"/>
                </a:solidFill>
                <a:latin typeface="Arial"/>
              </a:rPr>
              <a:t> 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 a:eaTypeface="Microsoft YaHei">
                <a:solidFill>
                  <a:srgbClr val="00C853"/>
                </a:solidFill>
                <a:latin typeface="Arial"/>
              </a:rPr>
              <a:t>服务端层 (A)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100" b="0" a:eaTypeface="Microsoft YaHei">
                <a:solidFill>
                  <a:srgbClr val="FFFFFF"/>
                </a:solidFill>
                <a:latin typeface="Arial"/>
              </a:rPr>
              <a:t>FastAPI 26 REST 端点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100" b="0" a:eaTypeface="Microsoft YaHei">
                <a:solidFill>
                  <a:srgbClr val="FFFFFF"/>
                </a:solidFill>
                <a:latin typeface="Arial"/>
              </a:rPr>
              <a:t>SQLAlchemy ORM 7 表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100" b="0" a:eaTypeface="Microsoft YaHei">
                <a:solidFill>
                  <a:srgbClr val="FFFFFF"/>
                </a:solidFill>
                <a:latin typeface="Arial"/>
              </a:rPr>
              <a:t>风险评分 + 红线检测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800" b="0" a:eaTypeface="Microsoft YaHei">
                <a:solidFill>
                  <a:srgbClr val="FFFFFF"/>
                </a:solidFill>
                <a:latin typeface="Arial"/>
              </a:rPr>
              <a:t> 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 a:eaTypeface="Microsoft YaHei">
                <a:solidFill>
                  <a:srgbClr val="00C853"/>
                </a:solidFill>
                <a:latin typeface="Arial"/>
              </a:rPr>
              <a:t>AI 服务层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100" b="0" a:eaTypeface="Microsoft YaHei">
                <a:solidFill>
                  <a:srgbClr val="FFFFFF"/>
                </a:solidFill>
                <a:latin typeface="Arial"/>
              </a:rPr>
              <a:t>OmniParser GPU :9800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100" b="0" a:eaTypeface="Microsoft YaHei">
                <a:solidFill>
                  <a:srgbClr val="FFFFFF"/>
                </a:solidFill>
                <a:latin typeface="Arial"/>
              </a:rPr>
              <a:t>多模态 LLM 8 供应商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a:eaTypeface="Microsoft YaHei">
                <a:solidFill>
                  <a:srgbClr val="FFFFFF"/>
                </a:solidFill>
                <a:latin typeface="Arial"/>
              </a:rPr>
              <a:t>核心业务流程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a:eaTypeface="Microsoft YaHei">
                <a:solidFill>
                  <a:srgbClr val="9999AA"/>
                </a:solidFill>
                <a:latin typeface="Arial"/>
              </a:rPr>
              <a:t>用户指令  →  截图  →  OmniParser 检测  →  LLM 规划  →  风险评分  →  pyautogui 执行  →  审计上报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286000"/>
            <a:ext cx="10058400" cy="5486400"/>
          </a:xfrm>
          <a:prstGeom prst="rect">
            <a:avLst/>
          </a:prstGeom>
          <a:solidFill>
            <a:srgbClr val="1C2840"/>
          </a:solidFill>
          <a:ln w="12700">
            <a:solidFill>
              <a:srgbClr val="3A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a:eaTypeface="Microsoft YaHei">
                <a:solidFill>
                  <a:srgbClr val="9999AA"/>
                </a:solidFill>
                <a:latin typeface="Arial"/>
              </a:rPr>
              <a:t>IMG-P05</a:t>
            </a:r>
          </a:p>
          <a:p>
            <a:pPr algn="ctr"/>
            <a:r>
              <a:rPr sz="1100" b="0" a:eaTypeface="Microsoft YaHei">
                <a:solidFill>
                  <a:srgbClr val="9999AA"/>
                </a:solidFill>
                <a:latin typeface="Arial"/>
              </a:rPr>
              <a:t>UML_diagrams.md — 图2</a:t>
            </a:r>
          </a:p>
          <a:p>
            <a:pPr algn="ctr"/>
            <a:r>
              <a:rPr sz="1100" b="0" a:eaTypeface="Microsoft YaHei">
                <a:solidFill>
                  <a:srgbClr val="9999AA"/>
                </a:solidFill>
                <a:latin typeface="Arial"/>
              </a:rPr>
              <a:t>完整 10 步操作时序图</a:t>
            </a:r>
          </a:p>
          <a:p>
            <a:pPr algn="ctr"/>
            <a:r>
              <a:rPr sz="1100" b="0" a:eaTypeface="Microsoft YaHei">
                <a:solidFill>
                  <a:srgbClr val="9999AA"/>
                </a:solidFill>
                <a:latin typeface="Arial"/>
              </a:rPr>
              <a:t>(Mermaid sequenceDiagram 渲染)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a:eaTypeface="Microsoft YaHei">
                <a:solidFill>
                  <a:srgbClr val="FFFFFF"/>
                </a:solidFill>
                <a:latin typeface="Arial"/>
              </a:rPr>
              <a:t>A 端 — 后端服务成果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10515600" cy="4572000"/>
          </a:xfrm>
          <a:prstGeom prst="rect">
            <a:avLst/>
          </a:prstGeom>
          <a:solidFill>
            <a:srgbClr val="1C2840"/>
          </a:solidFill>
          <a:ln w="12700">
            <a:solidFill>
              <a:srgbClr val="3A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a:eaTypeface="Microsoft YaHei">
                <a:solidFill>
                  <a:srgbClr val="9999AA"/>
                </a:solidFill>
                <a:latin typeface="Arial"/>
              </a:rPr>
              <a:t>IMG-P06</a:t>
            </a:r>
          </a:p>
          <a:p>
            <a:pPr algn="ctr"/>
            <a:r>
              <a:rPr sz="1100" b="0" a:eaTypeface="Microsoft YaHei">
                <a:solidFill>
                  <a:srgbClr val="9999AA"/>
                </a:solidFill>
                <a:latin typeface="Arial"/>
              </a:rPr>
              <a:t>A端 26 端点清单表格</a:t>
            </a:r>
          </a:p>
          <a:p>
            <a:pPr algn="ctr"/>
            <a:r>
              <a:rPr sz="1100" b="0" a:eaTypeface="Microsoft YaHei">
                <a:solidFill>
                  <a:srgbClr val="9999AA"/>
                </a:solidFill>
                <a:latin typeface="Arial"/>
              </a:rPr>
              <a:t>(项目文档/HAJIMI-API接口文档.html)</a:t>
            </a:r>
          </a:p>
          <a:p>
            <a:pPr algn="ctr"/>
            <a:r>
              <a:rPr sz="1100" b="0" a:eaTypeface="Microsoft YaHei">
                <a:solidFill>
                  <a:srgbClr val="9999AA"/>
                </a:solidFill>
                <a:latin typeface="Arial"/>
              </a:rPr>
              <a:t>重点标注 execute / stream /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858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 b="0" a:eaTypeface="Microsoft YaHei">
                <a:solidFill>
                  <a:srgbClr val="9999AA"/>
                </a:solidFill>
                <a:latin typeface="Arial"/>
              </a:rPr>
              <a:t>26 REST 端点  |  7 表 SQLite DB  |  8 LLM 供应商  |  SSE 实时推送  |  风险评分 + 红线检测  |  OmniParser GPU  |  ORM + Repository 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a:eaTypeface="Microsoft YaHei">
                <a:solidFill>
                  <a:srgbClr val="FFFFFF"/>
                </a:solidFill>
                <a:latin typeface="Arial"/>
              </a:rPr>
              <a:t>B 端 — 桌面客户端成果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6858000" cy="5029200"/>
          </a:xfrm>
          <a:prstGeom prst="rect">
            <a:avLst/>
          </a:prstGeom>
          <a:solidFill>
            <a:srgbClr val="1C2840"/>
          </a:solidFill>
          <a:ln w="12700">
            <a:solidFill>
              <a:srgbClr val="3A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a:eaTypeface="Microsoft YaHei">
                <a:solidFill>
                  <a:srgbClr val="9999AA"/>
                </a:solidFill>
                <a:latin typeface="Arial"/>
              </a:rPr>
              <a:t>IMG-P07</a:t>
            </a:r>
          </a:p>
          <a:p>
            <a:pPr algn="ctr"/>
            <a:r>
              <a:rPr sz="1100" b="0" a:eaTypeface="Microsoft YaHei">
                <a:solidFill>
                  <a:srgbClr val="9999AA"/>
                </a:solidFill>
                <a:latin typeface="Arial"/>
              </a:rPr>
              <a:t>B端 悬浮面板 (480x520) + 屏幕覆盖层</a:t>
            </a:r>
          </a:p>
          <a:p>
            <a:pPr algn="ctr"/>
            <a:r>
              <a:rPr sz="1100" b="0" a:eaTypeface="Microsoft YaHei">
                <a:solidFill>
                  <a:srgbClr val="9999AA"/>
                </a:solidFill>
                <a:latin typeface="Arial"/>
              </a:rPr>
              <a:t>步骤卡片 + 聊天气泡 + 箭头 + 高亮框 + 编号标签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82880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 a:eaTypeface="Microsoft YaHei">
                <a:solidFill>
                  <a:srgbClr val="00C853"/>
                </a:solidFill>
                <a:latin typeface="Arial"/>
              </a:rPr>
              <a:t>PyQt5 Native UI v2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 b="0" a:eaTypeface="Microsoft YaHei">
                <a:solidFill>
                  <a:srgbClr val="FFFFFF"/>
                </a:solidFill>
                <a:latin typeface="Arial"/>
              </a:rPr>
              <a:t>悬浮面板 480x520px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 b="0" a:eaTypeface="Microsoft YaHei">
                <a:solidFill>
                  <a:srgbClr val="FFFFFF"/>
                </a:solidFill>
                <a:latin typeface="Arial"/>
              </a:rPr>
              <a:t>紧凑模式 320x52px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 b="0" a:eaTypeface="Microsoft YaHei">
                <a:solidFill>
                  <a:srgbClr val="FFFFFF"/>
                </a:solidFill>
                <a:latin typeface="Arial"/>
              </a:rPr>
              <a:t>屏幕覆盖层实时标注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800" b="0" a:eaTypeface="Microsoft YaHei">
                <a:solidFill>
                  <a:srgbClr val="FFFFFF"/>
                </a:solidFill>
                <a:latin typeface="Arial"/>
              </a:rPr>
              <a:t> 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 a:eaTypeface="Microsoft YaHei">
                <a:solidFill>
                  <a:srgbClr val="00C853"/>
                </a:solidFill>
                <a:latin typeface="Arial"/>
              </a:rPr>
              <a:t>风格切换 (3 主题)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800" b="0" a:eaTypeface="Microsoft YaHei">
                <a:solidFill>
                  <a:srgbClr val="FFFFFF"/>
                </a:solidFill>
                <a:latin typeface="Arial"/>
              </a:rPr>
              <a:t> 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 a:eaTypeface="Microsoft YaHei">
                <a:solidFill>
                  <a:srgbClr val="00C853"/>
                </a:solidFill>
                <a:latin typeface="Arial"/>
              </a:rPr>
              <a:t>mss 截图 + pyautogui 执行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800" b="0" a:eaTypeface="Microsoft YaHei">
                <a:solidFill>
                  <a:srgbClr val="FFFFFF"/>
                </a:solidFill>
                <a:latin typeface="Arial"/>
              </a:rPr>
              <a:t> 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 a:eaTypeface="Microsoft YaHei">
                <a:solidFill>
                  <a:srgbClr val="00C853"/>
                </a:solidFill>
                <a:latin typeface="Arial"/>
              </a:rPr>
              <a:t>B-C 信号总线 10 信号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800" b="0" a:eaTypeface="Microsoft YaHei">
                <a:solidFill>
                  <a:srgbClr val="FFFFFF"/>
                </a:solidFill>
                <a:latin typeface="Arial"/>
              </a:rPr>
              <a:t> 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 a:eaTypeface="Microsoft YaHei">
                <a:solidFill>
                  <a:srgbClr val="00C853"/>
                </a:solidFill>
                <a:latin typeface="Arial"/>
              </a:rPr>
              <a:t>HiDPI 坐标映射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800" b="0" a:eaTypeface="Microsoft YaHei">
                <a:solidFill>
                  <a:srgbClr val="FFFFFF"/>
                </a:solidFill>
                <a:latin typeface="Arial"/>
              </a:rPr>
              <a:t> 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 a:eaTypeface="Microsoft YaHei">
                <a:solidFill>
                  <a:srgbClr val="00C853"/>
                </a:solidFill>
                <a:latin typeface="Arial"/>
              </a:rPr>
              <a:t>macOS 打包适配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a:eaTypeface="Microsoft YaHei">
                <a:solidFill>
                  <a:srgbClr val="FFFFFF"/>
                </a:solidFill>
                <a:latin typeface="Arial"/>
              </a:rPr>
              <a:t>V2.2 核心亮点：自动执行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a:eaTypeface="Microsoft YaHei">
                <a:solidFill>
                  <a:srgbClr val="9999AA"/>
                </a:solidFill>
                <a:latin typeface="Arial"/>
              </a:rPr>
              <a:t>从"教用户点哪里"到"替用户点好了"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6858000" cy="4572000"/>
          </a:xfrm>
          <a:prstGeom prst="rect">
            <a:avLst/>
          </a:prstGeom>
          <a:solidFill>
            <a:srgbClr val="1C2840"/>
          </a:solidFill>
          <a:ln w="12700">
            <a:solidFill>
              <a:srgbClr val="3A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a:eaTypeface="Microsoft YaHei">
                <a:solidFill>
                  <a:srgbClr val="9999AA"/>
                </a:solidFill>
                <a:latin typeface="Arial"/>
              </a:rPr>
              <a:t>IMG-P08</a:t>
            </a:r>
          </a:p>
          <a:p>
            <a:pPr algn="ctr"/>
            <a:r>
              <a:rPr sz="1100" b="0" a:eaTypeface="Microsoft YaHei">
                <a:solidFill>
                  <a:srgbClr val="9999AA"/>
                </a:solidFill>
                <a:latin typeface="Arial"/>
              </a:rPr>
              <a:t>B端自动执行效果截图</a:t>
            </a:r>
          </a:p>
          <a:p>
            <a:pPr algn="ctr"/>
            <a:r>
              <a:rPr sz="1100" b="0" a:eaTypeface="Microsoft YaHei">
                <a:solidFill>
                  <a:srgbClr val="9999AA"/>
                </a:solidFill>
                <a:latin typeface="Arial"/>
              </a:rPr>
              <a:t>(步骤卡片 action 类型 + 风险评分圆点 + pyautogui 日志)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600" b="1" a:eaTypeface="Microsoft YaHei">
                <a:solidFill>
                  <a:srgbClr val="00C853"/>
                </a:solidFill>
                <a:latin typeface="Arial"/>
              </a:rPr>
              <a:t>6 种自动操作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 a:eaTypeface="Microsoft YaHei">
                <a:solidFill>
                  <a:srgbClr val="FFFFFF"/>
                </a:solidFill>
                <a:latin typeface="Arial"/>
              </a:rPr>
              <a:t>click · type · dblclick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 a:eaTypeface="Microsoft YaHei">
                <a:solidFill>
                  <a:srgbClr val="FFFFFF"/>
                </a:solidFill>
                <a:latin typeface="Arial"/>
              </a:rPr>
              <a:t>hotkey · drag · scroll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800" b="0" a:eaTypeface="Microsoft YaHei">
                <a:solidFill>
                  <a:srgbClr val="FFFFFF"/>
                </a:solidFill>
                <a:latin typeface="Arial"/>
              </a:rPr>
              <a:t> 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600" b="1" a:eaTypeface="Microsoft YaHei">
                <a:solidFill>
                  <a:srgbClr val="00C853"/>
                </a:solidFill>
                <a:latin typeface="Arial"/>
              </a:rPr>
              <a:t>三重安全保障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 a:eaTypeface="Microsoft YaHei">
                <a:solidFill>
                  <a:srgbClr val="FFFFFF"/>
                </a:solidFill>
                <a:latin typeface="Arial"/>
              </a:rPr>
              <a:t>风险评分 1-5 级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 a:eaTypeface="Microsoft YaHei">
                <a:solidFill>
                  <a:srgbClr val="FFFFFF"/>
                </a:solidFill>
                <a:latin typeface="Arial"/>
              </a:rPr>
              <a:t>红线关键词拦截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 a:eaTypeface="Microsoft YaHei">
                <a:solidFill>
                  <a:srgbClr val="FFFFFF"/>
                </a:solidFill>
                <a:latin typeface="Arial"/>
              </a:rPr>
              <a:t>评分 &gt;= 4 需用户确认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800" b="0" a:eaTypeface="Microsoft YaHei">
                <a:solidFill>
                  <a:srgbClr val="FFFFFF"/>
                </a:solidFill>
                <a:latin typeface="Arial"/>
              </a:rPr>
              <a:t> 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600" b="1" a:eaTypeface="Microsoft YaHei">
                <a:solidFill>
                  <a:srgbClr val="00C853"/>
                </a:solidFill>
                <a:latin typeface="Arial"/>
              </a:rPr>
              <a:t>智能执行循环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 a:eaTypeface="Microsoft YaHei">
                <a:solidFill>
                  <a:srgbClr val="FFFFFF"/>
                </a:solidFill>
                <a:latin typeface="Arial"/>
              </a:rPr>
              <a:t>Plan → Execute → Evaluate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 a:eaTypeface="Microsoft YaHei">
                <a:solidFill>
                  <a:srgbClr val="FFFFFF"/>
                </a:solidFill>
                <a:latin typeface="Arial"/>
              </a:rPr>
              <a:t>→ Replan (如需要)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800" b="0" a:eaTypeface="Microsoft YaHei">
                <a:solidFill>
                  <a:srgbClr val="FFFFFF"/>
                </a:solidFill>
                <a:latin typeface="Arial"/>
              </a:rPr>
              <a:t> 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600" b="1" a:eaTypeface="Microsoft YaHei">
                <a:solidFill>
                  <a:srgbClr val="00C853"/>
                </a:solidFill>
                <a:latin typeface="Arial"/>
              </a:rPr>
              <a:t>SSE 实时进度推送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a:eaTypeface="Microsoft YaHei">
                <a:solidFill>
                  <a:srgbClr val="FFFFFF"/>
                </a:solidFill>
                <a:latin typeface="Arial"/>
              </a:rPr>
              <a:t>C 端 — 集成与管理面板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a:eaTypeface="Microsoft YaHei">
                <a:solidFill>
                  <a:srgbClr val="9999AA"/>
                </a:solidFill>
                <a:latin typeface="Arial"/>
              </a:rPr>
              <a:t>Web管理面板 6 页  +  语音模块 ASR/TTS  +  审计代理  +  配置轮询  +  B-C 集成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103120"/>
            <a:ext cx="6858000" cy="4572000"/>
          </a:xfrm>
          <a:prstGeom prst="rect">
            <a:avLst/>
          </a:prstGeom>
          <a:solidFill>
            <a:srgbClr val="1C2840"/>
          </a:solidFill>
          <a:ln w="12700">
            <a:solidFill>
              <a:srgbClr val="3A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a:eaTypeface="Microsoft YaHei">
                <a:solidFill>
                  <a:srgbClr val="9999AA"/>
                </a:solidFill>
                <a:latin typeface="Arial"/>
              </a:rPr>
              <a:t>IMG-P09</a:t>
            </a:r>
          </a:p>
          <a:p>
            <a:pPr algn="ctr"/>
            <a:r>
              <a:rPr sz="1100" b="0" a:eaTypeface="Microsoft YaHei">
                <a:solidFill>
                  <a:srgbClr val="9999AA"/>
                </a:solidFill>
                <a:latin typeface="Arial"/>
              </a:rPr>
              <a:t>Web 管理面板三页拼图</a:t>
            </a:r>
          </a:p>
          <a:p>
            <a:pPr algn="ctr"/>
            <a:r>
              <a:rPr sz="1100" b="0" a:eaTypeface="Microsoft YaHei">
                <a:solidFill>
                  <a:srgbClr val="9999AA"/>
                </a:solidFill>
                <a:latin typeface="Arial"/>
              </a:rPr>
              <a:t>Dashboard + 失败归因 + 数据流桑基图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10312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 a:eaTypeface="Microsoft YaHei">
                <a:solidFill>
                  <a:srgbClr val="00C853"/>
                </a:solidFill>
                <a:latin typeface="Arial"/>
              </a:rPr>
              <a:t>Web 管理面板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 b="0" a:eaTypeface="Microsoft YaHei">
                <a:solidFill>
                  <a:srgbClr val="FFFFFF"/>
                </a:solidFill>
                <a:latin typeface="Arial"/>
              </a:rPr>
              <a:t>登录 / 总览 / 失败归因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 b="0" a:eaTypeface="Microsoft YaHei">
                <a:solidFill>
                  <a:srgbClr val="FFFFFF"/>
                </a:solidFill>
                <a:latin typeface="Arial"/>
              </a:rPr>
              <a:t>数据流 / 系统配置 / 健康监控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 b="0" a:eaTypeface="Microsoft YaHei">
                <a:solidFill>
                  <a:srgbClr val="FFFFFF"/>
                </a:solidFill>
                <a:latin typeface="Arial"/>
              </a:rPr>
              <a:t>autoDetectServer 真实数据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800" b="0" a:eaTypeface="Microsoft YaHei">
                <a:solidFill>
                  <a:srgbClr val="FFFFFF"/>
                </a:solidFill>
                <a:latin typeface="Arial"/>
              </a:rPr>
              <a:t> 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 a:eaTypeface="Microsoft YaHei">
                <a:solidFill>
                  <a:srgbClr val="00C853"/>
                </a:solidFill>
                <a:latin typeface="Arial"/>
              </a:rPr>
              <a:t>语音模块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 b="0" a:eaTypeface="Microsoft YaHei">
                <a:solidFill>
                  <a:srgbClr val="FFFFFF"/>
                </a:solidFill>
                <a:latin typeface="Arial"/>
              </a:rPr>
              <a:t>ASR: Vosk → Google → Mock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 b="0" a:eaTypeface="Microsoft YaHei">
                <a:solidFill>
                  <a:srgbClr val="FFFFFF"/>
                </a:solidFill>
                <a:latin typeface="Arial"/>
              </a:rPr>
              <a:t>TTS: pyttsx3 优先队列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800" b="0" a:eaTypeface="Microsoft YaHei">
                <a:solidFill>
                  <a:srgbClr val="FFFFFF"/>
                </a:solidFill>
                <a:latin typeface="Arial"/>
              </a:rPr>
              <a:t> 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 a:eaTypeface="Microsoft YaHei">
                <a:solidFill>
                  <a:srgbClr val="00C853"/>
                </a:solidFill>
                <a:latin typeface="Arial"/>
              </a:rPr>
              <a:t>审计 + 配置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 b="0" a:eaTypeface="Microsoft YaHei">
                <a:solidFill>
                  <a:srgbClr val="FFFFFF"/>
                </a:solidFill>
                <a:latin typeface="Arial"/>
              </a:rPr>
              <a:t>SQLite 队列 + 6 类脱敏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 b="0" a:eaTypeface="Microsoft YaHei">
                <a:solidFill>
                  <a:srgbClr val="FFFFFF"/>
                </a:solidFill>
                <a:latin typeface="Arial"/>
              </a:rPr>
              <a:t>ETag 轮询 + 变更通知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800" b="0" a:eaTypeface="Microsoft YaHei">
                <a:solidFill>
                  <a:srgbClr val="FFFFFF"/>
                </a:solidFill>
                <a:latin typeface="Arial"/>
              </a:rPr>
              <a:t> 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 a:eaTypeface="Microsoft YaHei">
                <a:solidFill>
                  <a:srgbClr val="00C853"/>
                </a:solidFill>
                <a:latin typeface="Arial"/>
              </a:rPr>
              <a:t>B-C 集成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 b="0" a:eaTypeface="Microsoft YaHei">
                <a:solidFill>
                  <a:srgbClr val="FFFFFF"/>
                </a:solidFill>
                <a:latin typeface="Arial"/>
              </a:rPr>
              <a:t>bc_adapter 3 行接入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a:eaTypeface="Microsoft YaHei">
                <a:solidFill>
                  <a:srgbClr val="FFFFFF"/>
                </a:solidFill>
                <a:latin typeface="Arial"/>
              </a:rPr>
              <a:t>C ⟷ A ⟷ B  数据连通性验证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a:eaTypeface="Microsoft YaHei">
                <a:solidFill>
                  <a:srgbClr val="9999AA"/>
                </a:solidFill>
                <a:latin typeface="Arial"/>
              </a:rPr>
              <a:t>28/28 全部通过 — Web 面板已是真实数据，不再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solidFill>
            <a:srgbClr val="1C2840"/>
          </a:solidFill>
          <a:ln w="12700">
            <a:solidFill>
              <a:srgbClr val="3A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a:eaTypeface="Microsoft YaHei">
                <a:solidFill>
                  <a:srgbClr val="9999AA"/>
                </a:solidFill>
                <a:latin typeface="Arial"/>
              </a:rPr>
              <a:t>IMG-P10</a:t>
            </a:r>
          </a:p>
          <a:p>
            <a:pPr algn="ctr"/>
            <a:r>
              <a:rPr sz="1100" b="0" a:eaTypeface="Microsoft YaHei">
                <a:solidFill>
                  <a:srgbClr val="9999AA"/>
                </a:solidFill>
                <a:latin typeface="Arial"/>
              </a:rPr>
              <a:t>demo_connectivity.py 终端运行截图</a:t>
            </a:r>
          </a:p>
          <a:p>
            <a:pPr algn="ctr"/>
            <a:r>
              <a:rPr sz="1100" b="0" a:eaTypeface="Microsoft YaHei">
                <a:solidFill>
                  <a:srgbClr val="9999AA"/>
                </a:solidFill>
                <a:latin typeface="Arial"/>
              </a:rPr>
              <a:t>(28/28 PASS + 三条回路标注)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583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 b="0" a:eaTypeface="Microsoft YaHei">
                <a:solidFill>
                  <a:srgbClr val="00C853"/>
                </a:solidFill>
                <a:latin typeface="Arial"/>
              </a:rPr>
              <a:t>审计回路： C端审计代理 → POST /audit/report → A端 DB → GET /admin/stats → Web面板可查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400" b="0" a:eaTypeface="Microsoft YaHei">
                <a:solidFill>
                  <a:srgbClr val="FFFFFF"/>
                </a:solidFill>
                <a:latin typeface="Arial"/>
              </a:rPr>
              <a:t> 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 b="0" a:eaTypeface="Microsoft YaHei">
                <a:solidFill>
                  <a:srgbClr val="00C853"/>
                </a:solidFill>
                <a:latin typeface="Arial"/>
              </a:rPr>
              <a:t>配置回路： Web面板 → POST /admin/config/deploy → A端 DB → GET /config/pull → C端 Poller 验证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400" b="0" a:eaTypeface="Microsoft YaHei">
                <a:solidFill>
                  <a:srgbClr val="FFFFFF"/>
                </a:solidFill>
                <a:latin typeface="Arial"/>
              </a:rPr>
              <a:t> 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 b="0" a:eaTypeface="Microsoft YaHei">
                <a:solidFill>
                  <a:srgbClr val="00C853"/>
                </a:solidFill>
                <a:latin typeface="Arial"/>
              </a:rPr>
              <a:t>BC 审计链： B端 AuditRecord → C端脱敏入队 → 批量 POST → A端入库 → Web可查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a:eaTypeface="Microsoft YaHei">
                <a:solidFill>
                  <a:srgbClr val="FFFFFF"/>
                </a:solidFill>
                <a:latin typeface="Arial"/>
              </a:rPr>
              <a:t>测试与质量保障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a:eaTypeface="Microsoft YaHei">
                <a:solidFill>
                  <a:srgbClr val="9999AA"/>
                </a:solidFill>
                <a:latin typeface="Arial"/>
              </a:rPr>
              <a:t>237 项全量回归  100% 通过率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103120"/>
            <a:ext cx="5943600" cy="5029200"/>
          </a:xfrm>
          <a:prstGeom prst="rect">
            <a:avLst/>
          </a:prstGeom>
          <a:solidFill>
            <a:srgbClr val="1C2840"/>
          </a:solidFill>
          <a:ln w="12700">
            <a:solidFill>
              <a:srgbClr val="3A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a:eaTypeface="Microsoft YaHei">
                <a:solidFill>
                  <a:srgbClr val="9999AA"/>
                </a:solidFill>
                <a:latin typeface="Arial"/>
              </a:rPr>
              <a:t>IMG-P11</a:t>
            </a:r>
          </a:p>
          <a:p>
            <a:pPr algn="ctr"/>
            <a:r>
              <a:rPr sz="1100" b="0" a:eaTypeface="Microsoft YaHei">
                <a:solidFill>
                  <a:srgbClr val="9999AA"/>
                </a:solidFill>
                <a:latin typeface="Arial"/>
              </a:rPr>
              <a:t>测试矩阵 237 项 + 测试报告汇总表</a:t>
            </a:r>
          </a:p>
          <a:p>
            <a:pPr algn="ctr"/>
            <a:r>
              <a:rPr sz="1100" b="0" a:eaTypeface="Microsoft YaHei">
                <a:solidFill>
                  <a:srgbClr val="9999AA"/>
                </a:solidFill>
                <a:latin typeface="Arial"/>
              </a:rPr>
              <a:t>(项目文档/测试文档/02-HAJIMI单元测试报告.docx)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2103120"/>
            <a:ext cx="50292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600" b="1" a:eaTypeface="Microsoft YaHei">
                <a:solidFill>
                  <a:srgbClr val="00C853"/>
                </a:solidFill>
                <a:latin typeface="Arial"/>
              </a:rPr>
              <a:t>测试方案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 a:eaTypeface="Microsoft YaHei">
                <a:solidFill>
                  <a:srgbClr val="FFFFFF"/>
                </a:solidFill>
                <a:latin typeface="Arial"/>
              </a:rPr>
              <a:t>A 端 23 项测试用例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 a:eaTypeface="Microsoft YaHei">
                <a:solidFill>
                  <a:srgbClr val="FFFFFF"/>
                </a:solidFill>
                <a:latin typeface="Arial"/>
              </a:rPr>
              <a:t>B 端 9 项测试用例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 a:eaTypeface="Microsoft YaHei">
                <a:solidFill>
                  <a:srgbClr val="FFFFFF"/>
                </a:solidFill>
                <a:latin typeface="Arial"/>
              </a:rPr>
              <a:t>C 端 18 项测试用例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 a:eaTypeface="Microsoft YaHei">
                <a:solidFill>
                  <a:srgbClr val="FFFFFF"/>
                </a:solidFill>
                <a:latin typeface="Arial"/>
              </a:rPr>
              <a:t>全系统 6 项测试用例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 a:eaTypeface="Microsoft YaHei">
                <a:solidFill>
                  <a:srgbClr val="FFFFFF"/>
                </a:solidFill>
                <a:latin typeface="Arial"/>
              </a:rPr>
              <a:t>共计 56 项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800" b="0" a:eaTypeface="Microsoft YaHei">
                <a:solidFill>
                  <a:srgbClr val="FFFFFF"/>
                </a:solidFill>
                <a:latin typeface="Arial"/>
              </a:rPr>
              <a:t> 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600" b="1" a:eaTypeface="Microsoft YaHei">
                <a:solidFill>
                  <a:srgbClr val="00C853"/>
                </a:solidFill>
                <a:latin typeface="Arial"/>
              </a:rPr>
              <a:t>测试结果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 a:eaTypeface="Microsoft YaHei">
                <a:solidFill>
                  <a:srgbClr val="FFFFFF"/>
                </a:solidFill>
                <a:latin typeface="Arial"/>
              </a:rPr>
              <a:t>28/28 数据回路测试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 a:eaTypeface="Microsoft YaHei">
                <a:solidFill>
                  <a:srgbClr val="FFFFFF"/>
                </a:solidFill>
                <a:latin typeface="Arial"/>
              </a:rPr>
              <a:t>237 项全量回归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 a:eaTypeface="Microsoft YaHei">
                <a:solidFill>
                  <a:srgbClr val="FFFFFF"/>
                </a:solidFill>
                <a:latin typeface="Arial"/>
              </a:rPr>
              <a:t>100% 通过率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800" b="0" a:eaTypeface="Microsoft YaHei">
                <a:solidFill>
                  <a:srgbClr val="FFFFFF"/>
                </a:solidFill>
                <a:latin typeface="Arial"/>
              </a:rPr>
              <a:t> 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600" b="1" a:eaTypeface="Microsoft YaHei">
                <a:solidFill>
                  <a:srgbClr val="00C853"/>
                </a:solidFill>
                <a:latin typeface="Arial"/>
              </a:rPr>
              <a:t>测试类型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 a:eaTypeface="Microsoft YaHei">
                <a:solidFill>
                  <a:srgbClr val="FFFFFF"/>
                </a:solidFill>
                <a:latin typeface="Arial"/>
              </a:rPr>
              <a:t>功能验证  ·  边界测试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 a:eaTypeface="Microsoft YaHei">
                <a:solidFill>
                  <a:srgbClr val="FFFFFF"/>
                </a:solidFill>
                <a:latin typeface="Arial"/>
              </a:rPr>
              <a:t>异常测试  ·  接口测试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 a:eaTypeface="Microsoft YaHei">
                <a:solidFill>
                  <a:srgbClr val="FFFFFF"/>
                </a:solidFill>
                <a:latin typeface="Arial"/>
              </a:rPr>
              <a:t>数据回路  ·  单元测试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a:eaTypeface="Microsoft YaHei">
                <a:solidFill>
                  <a:srgbClr val="FFFFFF"/>
                </a:solidFill>
                <a:latin typeface="Arial"/>
              </a:rPr>
              <a:t>项目总结与展望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68580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800" b="1" a:eaTypeface="Microsoft YaHei">
                <a:solidFill>
                  <a:srgbClr val="00C853"/>
                </a:solidFill>
                <a:latin typeface="Arial"/>
              </a:rPr>
              <a:t>已完成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 a:eaTypeface="Microsoft YaHei">
                <a:solidFill>
                  <a:srgbClr val="FFFFFF"/>
                </a:solidFill>
                <a:latin typeface="Arial"/>
              </a:rPr>
              <a:t>A 端：26 HTTP 端点 + 7 表 DB + OmniParser GPU + 多供应商 LLM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 a:eaTypeface="Microsoft YaHei">
                <a:solidFill>
                  <a:srgbClr val="FFFFFF"/>
                </a:solidFill>
                <a:latin typeface="Arial"/>
              </a:rPr>
              <a:t>B 端：PyQt5 悬浮面板 + 覆盖层标注 + pyautogui 自动执行 + B-C 信号总线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 a:eaTypeface="Microsoft YaHei">
                <a:solidFill>
                  <a:srgbClr val="FFFFFF"/>
                </a:solidFill>
                <a:latin typeface="Arial"/>
              </a:rPr>
              <a:t>C 端：6 核心模块 + Web 管理面板 6 页 + 237 项测试 + 真实数据回路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  <a:r>
              <a:rPr sz="1000" b="0" a:eaTypeface="Microsoft YaHei">
                <a:solidFill>
                  <a:srgbClr val="FFFFFF"/>
                </a:solidFill>
                <a:latin typeface="Arial"/>
              </a:rPr>
              <a:t> 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800" b="1" a:eaTypeface="Microsoft YaHei">
                <a:solidFill>
                  <a:srgbClr val="00C853"/>
                </a:solidFill>
                <a:latin typeface="Arial"/>
              </a:rPr>
              <a:t>第三周计划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 a:eaTypeface="Microsoft YaHei">
                <a:solidFill>
                  <a:srgbClr val="FFFFFF"/>
                </a:solidFill>
                <a:latin typeface="Arial"/>
              </a:rPr>
              <a:t>07/06-07/07  测试文档 + 测试报告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 a:eaTypeface="Microsoft YaHei">
                <a:solidFill>
                  <a:srgbClr val="FFFFFF"/>
                </a:solidFill>
                <a:latin typeface="Arial"/>
              </a:rPr>
              <a:t>07/07-07/08  部署文档 + 用户手册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 a:eaTypeface="Microsoft YaHei">
                <a:solidFill>
                  <a:srgbClr val="FFFFFF"/>
                </a:solidFill>
                <a:latin typeface="Arial"/>
              </a:rPr>
              <a:t>07/08-07/09  PPT 制作 + 视频录制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 a:eaTypeface="Microsoft YaHei">
                <a:solidFill>
                  <a:srgbClr val="FFFFFF"/>
                </a:solidFill>
                <a:latin typeface="Arial"/>
              </a:rPr>
              <a:t>07/09-07/10  产出物提交 + 终期检查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 a:eaTypeface="Microsoft YaHei">
                <a:solidFill>
                  <a:srgbClr val="FFFFFF"/>
                </a:solidFill>
                <a:latin typeface="Arial"/>
              </a:rPr>
              <a:t>07/11  最终答辩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0" y="2011680"/>
            <a:ext cx="4114800" cy="4114800"/>
          </a:xfrm>
          <a:prstGeom prst="rect">
            <a:avLst/>
          </a:prstGeom>
          <a:solidFill>
            <a:srgbClr val="1C2840"/>
          </a:solidFill>
          <a:ln w="12700">
            <a:solidFill>
              <a:srgbClr val="3A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a:eaTypeface="Microsoft YaHei">
                <a:solidFill>
                  <a:srgbClr val="9999AA"/>
                </a:solidFill>
                <a:latin typeface="Arial"/>
              </a:rPr>
              <a:t>IMG-P12</a:t>
            </a:r>
          </a:p>
          <a:p>
            <a:pPr algn="ctr"/>
            <a:r>
              <a:rPr sz="1100" b="0" a:eaTypeface="Microsoft YaHei">
                <a:solidFill>
                  <a:srgbClr val="9999AA"/>
                </a:solidFill>
                <a:latin typeface="Arial"/>
              </a:rPr>
              <a:t>三端完成度总结</a:t>
            </a:r>
          </a:p>
          <a:p>
            <a:pPr algn="ctr"/>
            <a:r>
              <a:rPr sz="1100" b="0" a:eaTypeface="Microsoft YaHei">
                <a:solidFill>
                  <a:srgbClr val="9999AA"/>
                </a:solidFill>
                <a:latin typeface="Arial"/>
              </a:rPr>
              <a:t>(A端 20/20, B端 9/11, C端 11/11)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00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a:eaTypeface="Microsoft YaHei">
                <a:solidFill>
                  <a:srgbClr val="FFFFFF"/>
                </a:solidFill>
                <a:latin typeface="Arial"/>
              </a:rPr>
              <a:t>感谢聆听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57200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a:eaTypeface="Microsoft YaHei">
                <a:solidFill>
                  <a:srgbClr val="9999AA"/>
                </a:solidFill>
                <a:latin typeface="Arial"/>
              </a:rPr>
              <a:t>HAJIMI  自动操作助手  —  32 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4864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 a:eaTypeface="Microsoft YaHei">
                <a:solidFill>
                  <a:srgbClr val="9999AA"/>
                </a:solidFill>
                <a:latin typeface="Arial"/>
              </a:rPr>
              <a:t>A: 后端 / AI 核心    B: 前端 / 桌面应用    C: 集成 / 语音 / 管理端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 a:eaTypeface="Microsoft YaHei">
                <a:solidFill>
                  <a:srgbClr val="9999AA"/>
                </a:solidFill>
                <a:latin typeface="Arial"/>
              </a:rPr>
              <a:t>重庆大学赋能实训项目    2026 年 7 月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828800"/>
            <a:ext cx="2743200" cy="2743200"/>
          </a:xfrm>
          <a:prstGeom prst="rect">
            <a:avLst/>
          </a:prstGeom>
          <a:solidFill>
            <a:srgbClr val="1C2840"/>
          </a:solidFill>
          <a:ln w="12700">
            <a:solidFill>
              <a:srgbClr val="3A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a:eaTypeface="Microsoft YaHei">
                <a:solidFill>
                  <a:srgbClr val="9999AA"/>
                </a:solidFill>
                <a:latin typeface="Arial"/>
              </a:rPr>
              <a:t>IMG-P13</a:t>
            </a:r>
          </a:p>
          <a:p>
            <a:pPr algn="ctr"/>
            <a:r>
              <a:rPr sz="1100" b="0" a:eaTypeface="Microsoft YaHei">
                <a:solidFill>
                  <a:srgbClr val="9999AA"/>
                </a:solidFill>
                <a:latin typeface="Arial"/>
              </a:rPr>
              <a:t>团队合照或项目 Logo</a:t>
            </a:r>
          </a:p>
          <a:p>
            <a:pPr algn="ctr"/>
            <a:r>
              <a:rPr sz="1100" b="0" a:eaTypeface="Microsoft YaHei">
                <a:solidFill>
                  <a:srgbClr val="9999AA"/>
                </a:solidFill>
                <a:latin typeface="Arial"/>
              </a:rPr>
              <a:t>(可选)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